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ssistant" charset="1" panose="00000500000000000000"/>
      <p:regular r:id="rId16"/>
    </p:embeddedFont>
    <p:embeddedFont>
      <p:font typeface="Assistant Light" charset="1" panose="00000400000000000000"/>
      <p:regular r:id="rId17"/>
    </p:embeddedFont>
    <p:embeddedFont>
      <p:font typeface="Assistant Semi-Bold" charset="1" panose="00000700000000000000"/>
      <p:regular r:id="rId18"/>
    </p:embeddedFont>
    <p:embeddedFont>
      <p:font typeface="Roca One" charset="1" panose="00000500000000000000"/>
      <p:regular r:id="rId19"/>
    </p:embeddedFont>
    <p:embeddedFont>
      <p:font typeface="Open Sans" charset="1" panose="020B0606030504020204"/>
      <p:regular r:id="rId20"/>
    </p:embeddedFont>
    <p:embeddedFont>
      <p:font typeface="Assistant Bold" charset="1" panose="00000800000000000000"/>
      <p:regular r:id="rId21"/>
    </p:embeddedFont>
    <p:embeddedFont>
      <p:font typeface="Open Sans Bold" charset="1" panose="020B0806030504020204"/>
      <p:regular r:id="rId22"/>
    </p:embeddedFont>
    <p:embeddedFont>
      <p:font typeface="Roca One Light" charset="1" panose="000004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jpeg" Type="http://schemas.openxmlformats.org/officeDocument/2006/relationships/image"/><Relationship Id="rId11" Target="../media/image18.jpeg" Type="http://schemas.openxmlformats.org/officeDocument/2006/relationships/image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5271" y="6203288"/>
            <a:ext cx="4690246" cy="6337288"/>
            <a:chOff x="0" y="0"/>
            <a:chExt cx="6253662" cy="84497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53662" cy="6253662"/>
            </a:xfrm>
            <a:custGeom>
              <a:avLst/>
              <a:gdLst/>
              <a:ahLst/>
              <a:cxnLst/>
              <a:rect r="r" b="b" t="t" l="l"/>
              <a:pathLst>
                <a:path h="6253662" w="6253662">
                  <a:moveTo>
                    <a:pt x="0" y="0"/>
                  </a:moveTo>
                  <a:lnTo>
                    <a:pt x="6253662" y="0"/>
                  </a:lnTo>
                  <a:lnTo>
                    <a:pt x="6253662" y="6253662"/>
                  </a:lnTo>
                  <a:lnTo>
                    <a:pt x="0" y="6253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9285" y="5163687"/>
              <a:ext cx="6004376" cy="3286031"/>
            </a:xfrm>
            <a:custGeom>
              <a:avLst/>
              <a:gdLst/>
              <a:ahLst/>
              <a:cxnLst/>
              <a:rect r="r" b="b" t="t" l="l"/>
              <a:pathLst>
                <a:path h="3286031" w="6004376">
                  <a:moveTo>
                    <a:pt x="0" y="0"/>
                  </a:moveTo>
                  <a:lnTo>
                    <a:pt x="6004377" y="0"/>
                  </a:lnTo>
                  <a:lnTo>
                    <a:pt x="6004377" y="3286031"/>
                  </a:lnTo>
                  <a:lnTo>
                    <a:pt x="0" y="328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3721635" y="-2268953"/>
            <a:ext cx="4566365" cy="6169904"/>
            <a:chOff x="0" y="0"/>
            <a:chExt cx="6088486" cy="82265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88486" cy="6088486"/>
            </a:xfrm>
            <a:custGeom>
              <a:avLst/>
              <a:gdLst/>
              <a:ahLst/>
              <a:cxnLst/>
              <a:rect r="r" b="b" t="t" l="l"/>
              <a:pathLst>
                <a:path h="6088486" w="6088486">
                  <a:moveTo>
                    <a:pt x="0" y="0"/>
                  </a:moveTo>
                  <a:lnTo>
                    <a:pt x="6088486" y="0"/>
                  </a:lnTo>
                  <a:lnTo>
                    <a:pt x="6088486" y="6088486"/>
                  </a:lnTo>
                  <a:lnTo>
                    <a:pt x="0" y="6088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42701" y="5027300"/>
              <a:ext cx="5845785" cy="3199239"/>
            </a:xfrm>
            <a:custGeom>
              <a:avLst/>
              <a:gdLst/>
              <a:ahLst/>
              <a:cxnLst/>
              <a:rect r="r" b="b" t="t" l="l"/>
              <a:pathLst>
                <a:path h="3199239" w="5845785">
                  <a:moveTo>
                    <a:pt x="0" y="0"/>
                  </a:moveTo>
                  <a:lnTo>
                    <a:pt x="5845785" y="0"/>
                  </a:lnTo>
                  <a:lnTo>
                    <a:pt x="5845785" y="3199239"/>
                  </a:lnTo>
                  <a:lnTo>
                    <a:pt x="0" y="3199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2672315" y="-776716"/>
            <a:ext cx="4054948" cy="4114800"/>
          </a:xfrm>
          <a:custGeom>
            <a:avLst/>
            <a:gdLst/>
            <a:ahLst/>
            <a:cxnLst/>
            <a:rect r="r" b="b" t="t" l="l"/>
            <a:pathLst>
              <a:path h="4114800" w="4054948">
                <a:moveTo>
                  <a:pt x="0" y="0"/>
                </a:moveTo>
                <a:lnTo>
                  <a:pt x="4054948" y="0"/>
                </a:lnTo>
                <a:lnTo>
                  <a:pt x="40549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7259300" y="7425062"/>
            <a:ext cx="3680019" cy="3734336"/>
          </a:xfrm>
          <a:custGeom>
            <a:avLst/>
            <a:gdLst/>
            <a:ahLst/>
            <a:cxnLst/>
            <a:rect r="r" b="b" t="t" l="l"/>
            <a:pathLst>
              <a:path h="3734336" w="3680019">
                <a:moveTo>
                  <a:pt x="3680019" y="3734336"/>
                </a:moveTo>
                <a:lnTo>
                  <a:pt x="0" y="3734336"/>
                </a:lnTo>
                <a:lnTo>
                  <a:pt x="0" y="0"/>
                </a:lnTo>
                <a:lnTo>
                  <a:pt x="3680019" y="0"/>
                </a:lnTo>
                <a:lnTo>
                  <a:pt x="3680019" y="373433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64410" y="444471"/>
            <a:ext cx="2701954" cy="2057989"/>
          </a:xfrm>
          <a:custGeom>
            <a:avLst/>
            <a:gdLst/>
            <a:ahLst/>
            <a:cxnLst/>
            <a:rect r="r" b="b" t="t" l="l"/>
            <a:pathLst>
              <a:path h="2057989" w="2701954">
                <a:moveTo>
                  <a:pt x="0" y="0"/>
                </a:moveTo>
                <a:lnTo>
                  <a:pt x="2701955" y="0"/>
                </a:lnTo>
                <a:lnTo>
                  <a:pt x="2701955" y="2057989"/>
                </a:lnTo>
                <a:lnTo>
                  <a:pt x="0" y="20579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24314" y="167497"/>
            <a:ext cx="3170587" cy="3027614"/>
          </a:xfrm>
          <a:custGeom>
            <a:avLst/>
            <a:gdLst/>
            <a:ahLst/>
            <a:cxnLst/>
            <a:rect r="r" b="b" t="t" l="l"/>
            <a:pathLst>
              <a:path h="3027614" w="3170587">
                <a:moveTo>
                  <a:pt x="0" y="0"/>
                </a:moveTo>
                <a:lnTo>
                  <a:pt x="3170587" y="0"/>
                </a:lnTo>
                <a:lnTo>
                  <a:pt x="3170587" y="3027614"/>
                </a:lnTo>
                <a:lnTo>
                  <a:pt x="0" y="3027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4722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566365" y="6814698"/>
            <a:ext cx="5212885" cy="201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400" spc="36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Presented by:</a:t>
            </a:r>
          </a:p>
          <a:p>
            <a:pPr algn="just">
              <a:lnSpc>
                <a:spcPts val="2400"/>
              </a:lnSpc>
            </a:pPr>
          </a:p>
          <a:p>
            <a:pPr algn="just" marL="518166" indent="-259083" lvl="1">
              <a:lnSpc>
                <a:spcPts val="2832"/>
              </a:lnSpc>
              <a:buFont typeface="Arial"/>
              <a:buChar char="•"/>
            </a:pPr>
            <a:r>
              <a:rPr lang="en-US" sz="2400" spc="264">
                <a:solidFill>
                  <a:srgbClr val="0E182F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Olabode Ajayi</a:t>
            </a:r>
          </a:p>
          <a:p>
            <a:pPr algn="just" marL="518166" indent="-259083" lvl="1">
              <a:lnSpc>
                <a:spcPts val="2832"/>
              </a:lnSpc>
              <a:buFont typeface="Arial"/>
              <a:buChar char="•"/>
            </a:pPr>
            <a:r>
              <a:rPr lang="en-US" sz="2400" spc="264">
                <a:solidFill>
                  <a:srgbClr val="0E182F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Norhelia  Echevarria </a:t>
            </a:r>
          </a:p>
          <a:p>
            <a:pPr algn="just" marL="518166" indent="-259083" lvl="1">
              <a:lnSpc>
                <a:spcPts val="2832"/>
              </a:lnSpc>
              <a:buFont typeface="Arial"/>
              <a:buChar char="•"/>
            </a:pPr>
            <a:r>
              <a:rPr lang="en-US" sz="2400" spc="264">
                <a:solidFill>
                  <a:srgbClr val="0E182F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Tanya Kavuru</a:t>
            </a:r>
          </a:p>
          <a:p>
            <a:pPr algn="just" marL="518166" indent="-259083" lvl="1">
              <a:lnSpc>
                <a:spcPts val="2832"/>
              </a:lnSpc>
              <a:buFont typeface="Arial"/>
              <a:buChar char="•"/>
            </a:pPr>
            <a:r>
              <a:rPr lang="en-US" sz="2400" spc="264">
                <a:solidFill>
                  <a:srgbClr val="0E182F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Shanif Lakhani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66365" y="5847061"/>
            <a:ext cx="5095429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3500" spc="52">
                <a:solidFill>
                  <a:srgbClr val="0D1C38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Basket Behaviour Analysis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897895" y="3801544"/>
            <a:ext cx="10492210" cy="1978842"/>
          </a:xfrm>
          <a:custGeom>
            <a:avLst/>
            <a:gdLst/>
            <a:ahLst/>
            <a:cxnLst/>
            <a:rect r="r" b="b" t="t" l="l"/>
            <a:pathLst>
              <a:path h="1978842" w="10492210">
                <a:moveTo>
                  <a:pt x="0" y="0"/>
                </a:moveTo>
                <a:lnTo>
                  <a:pt x="10492210" y="0"/>
                </a:lnTo>
                <a:lnTo>
                  <a:pt x="10492210" y="1978842"/>
                </a:lnTo>
                <a:lnTo>
                  <a:pt x="0" y="19788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92492" r="0" b="-105755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694901" y="9681209"/>
            <a:ext cx="6520717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900" spc="43">
                <a:solidFill>
                  <a:srgbClr val="0D1C38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Reference: https://www.instacart.com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66365" y="6332911"/>
            <a:ext cx="1587103" cy="34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b="true" sz="2600" spc="39">
                <a:solidFill>
                  <a:srgbClr val="0D1C38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12/10/2025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53959"/>
            <a:ext cx="16936695" cy="9372616"/>
            <a:chOff x="0" y="0"/>
            <a:chExt cx="4460693" cy="24685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0693" cy="2468508"/>
            </a:xfrm>
            <a:custGeom>
              <a:avLst/>
              <a:gdLst/>
              <a:ahLst/>
              <a:cxnLst/>
              <a:rect r="r" b="b" t="t" l="l"/>
              <a:pathLst>
                <a:path h="2468508" w="4460693">
                  <a:moveTo>
                    <a:pt x="0" y="0"/>
                  </a:moveTo>
                  <a:lnTo>
                    <a:pt x="4460693" y="0"/>
                  </a:lnTo>
                  <a:lnTo>
                    <a:pt x="4460693" y="2468508"/>
                  </a:lnTo>
                  <a:lnTo>
                    <a:pt x="0" y="2468508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4460693" cy="2420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7259300" y="-2124463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351626" y="9258300"/>
            <a:ext cx="6411237" cy="3508695"/>
          </a:xfrm>
          <a:custGeom>
            <a:avLst/>
            <a:gdLst/>
            <a:ahLst/>
            <a:cxnLst/>
            <a:rect r="r" b="b" t="t" l="l"/>
            <a:pathLst>
              <a:path h="3508695" w="6411237">
                <a:moveTo>
                  <a:pt x="0" y="0"/>
                </a:moveTo>
                <a:lnTo>
                  <a:pt x="6411237" y="0"/>
                </a:lnTo>
                <a:lnTo>
                  <a:pt x="6411237" y="3508695"/>
                </a:lnTo>
                <a:lnTo>
                  <a:pt x="0" y="35086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89484" y="1011796"/>
            <a:ext cx="12309032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sz="4700">
                <a:solidFill>
                  <a:srgbClr val="09428E"/>
                </a:solidFill>
                <a:latin typeface="Roca One"/>
                <a:ea typeface="Roca One"/>
                <a:cs typeface="Roca One"/>
                <a:sym typeface="Roca One"/>
              </a:rPr>
              <a:t>PROBLEM STATEMENT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103837" y="3402996"/>
            <a:ext cx="14959327" cy="4601737"/>
            <a:chOff x="0" y="0"/>
            <a:chExt cx="19945769" cy="61356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8075412" y="487163"/>
              <a:ext cx="4283230" cy="3357418"/>
            </a:xfrm>
            <a:custGeom>
              <a:avLst/>
              <a:gdLst/>
              <a:ahLst/>
              <a:cxnLst/>
              <a:rect r="r" b="b" t="t" l="l"/>
              <a:pathLst>
                <a:path h="3357418" w="4283230">
                  <a:moveTo>
                    <a:pt x="0" y="0"/>
                  </a:moveTo>
                  <a:lnTo>
                    <a:pt x="4283231" y="0"/>
                  </a:lnTo>
                  <a:lnTo>
                    <a:pt x="4283231" y="3357419"/>
                  </a:lnTo>
                  <a:lnTo>
                    <a:pt x="0" y="335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8735" t="0" r="-8735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487163"/>
              <a:ext cx="4682352" cy="3357418"/>
            </a:xfrm>
            <a:custGeom>
              <a:avLst/>
              <a:gdLst/>
              <a:ahLst/>
              <a:cxnLst/>
              <a:rect r="r" b="b" t="t" l="l"/>
              <a:pathLst>
                <a:path h="3357418" w="4682352">
                  <a:moveTo>
                    <a:pt x="0" y="0"/>
                  </a:moveTo>
                  <a:lnTo>
                    <a:pt x="4682352" y="0"/>
                  </a:lnTo>
                  <a:lnTo>
                    <a:pt x="4682352" y="3357419"/>
                  </a:lnTo>
                  <a:lnTo>
                    <a:pt x="0" y="335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5194" t="-2570" r="-5194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51703" y="487163"/>
              <a:ext cx="4194066" cy="3357418"/>
            </a:xfrm>
            <a:custGeom>
              <a:avLst/>
              <a:gdLst/>
              <a:ahLst/>
              <a:cxnLst/>
              <a:rect r="r" b="b" t="t" l="l"/>
              <a:pathLst>
                <a:path h="3357418" w="4194066">
                  <a:moveTo>
                    <a:pt x="0" y="0"/>
                  </a:moveTo>
                  <a:lnTo>
                    <a:pt x="4194066" y="0"/>
                  </a:lnTo>
                  <a:lnTo>
                    <a:pt x="4194066" y="3357419"/>
                  </a:lnTo>
                  <a:lnTo>
                    <a:pt x="0" y="335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984" t="0" r="-998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3998" y="-28575"/>
              <a:ext cx="4678354" cy="394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72"/>
                </a:lnSpc>
                <a:spcBef>
                  <a:spcPct val="0"/>
                </a:spcBef>
              </a:pPr>
              <a:r>
                <a:rPr lang="en-US" sz="1837">
                  <a:solidFill>
                    <a:srgbClr val="09428E"/>
                  </a:solidFill>
                  <a:latin typeface="Roca One"/>
                  <a:ea typeface="Roca One"/>
                  <a:cs typeface="Roca One"/>
                  <a:sym typeface="Roca One"/>
                </a:rPr>
                <a:t>Emma, Product &amp; Ops Lead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029944"/>
              <a:ext cx="4682352" cy="2105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72"/>
                </a:lnSpc>
                <a:spcBef>
                  <a:spcPct val="0"/>
                </a:spcBef>
              </a:pPr>
              <a:r>
                <a:rPr lang="en-US" sz="1837">
                  <a:solidFill>
                    <a:srgbClr val="09428E"/>
                  </a:solidFill>
                  <a:latin typeface="Roca One"/>
                  <a:ea typeface="Roca One"/>
                  <a:cs typeface="Roca One"/>
                  <a:sym typeface="Roca One"/>
                </a:rPr>
                <a:t> Which customers and products drive repeat business, when do customers order, and which product bundles can increase basket size via cross-sell?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8075412" y="3057"/>
              <a:ext cx="4283230" cy="394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72"/>
                </a:lnSpc>
                <a:spcBef>
                  <a:spcPct val="0"/>
                </a:spcBef>
              </a:pPr>
              <a:r>
                <a:rPr lang="en-US" sz="1837">
                  <a:solidFill>
                    <a:srgbClr val="09428E"/>
                  </a:solidFill>
                  <a:latin typeface="Roca One"/>
                  <a:ea typeface="Roca One"/>
                  <a:cs typeface="Roca One"/>
                  <a:sym typeface="Roca One"/>
                </a:rPr>
                <a:t>Mateo, Data Scientist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8075412" y="4029944"/>
              <a:ext cx="4283230" cy="2105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72"/>
                </a:lnSpc>
                <a:spcBef>
                  <a:spcPct val="0"/>
                </a:spcBef>
              </a:pPr>
              <a:r>
                <a:rPr lang="en-US" sz="1837">
                  <a:solidFill>
                    <a:srgbClr val="09428E"/>
                  </a:solidFill>
                  <a:latin typeface="Roca One"/>
                  <a:ea typeface="Roca One"/>
                  <a:cs typeface="Roca One"/>
                  <a:sym typeface="Roca One"/>
                </a:rPr>
                <a:t>Which signals (user-level, product-level, sequence embeddings, time features) best predict reorder behavior and days-to-next-order?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5751703" y="3057"/>
              <a:ext cx="4194066" cy="394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72"/>
                </a:lnSpc>
                <a:spcBef>
                  <a:spcPct val="0"/>
                </a:spcBef>
              </a:pPr>
              <a:r>
                <a:rPr lang="en-US" sz="1837">
                  <a:solidFill>
                    <a:srgbClr val="09428E"/>
                  </a:solidFill>
                  <a:latin typeface="Roca One"/>
                  <a:ea typeface="Roca One"/>
                  <a:cs typeface="Roca One"/>
                  <a:sym typeface="Roca One"/>
                </a:rPr>
                <a:t>Priya, Marketing Analyst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5751703" y="4029944"/>
              <a:ext cx="4194066" cy="2105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72"/>
                </a:lnSpc>
                <a:spcBef>
                  <a:spcPct val="0"/>
                </a:spcBef>
              </a:pPr>
              <a:r>
                <a:rPr lang="en-US" sz="1837">
                  <a:solidFill>
                    <a:srgbClr val="09428E"/>
                  </a:solidFill>
                  <a:latin typeface="Roca One"/>
                  <a:ea typeface="Roca One"/>
                  <a:cs typeface="Roca One"/>
                  <a:sym typeface="Roca One"/>
                </a:rPr>
                <a:t>Which segments (light/medium/heavy) respond best to cross-sell, and which product pairs yield highest lift?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017384" y="1760639"/>
            <a:ext cx="15045780" cy="92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2"/>
              </a:lnSpc>
            </a:pPr>
            <a:r>
              <a:rPr lang="en-US" sz="2644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Instac</a:t>
            </a:r>
            <a:r>
              <a:rPr lang="en-US" sz="2644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art faces the challenge of identifying the key drivers of customer loyalty and repeat purchasing amid rapidly growing user activity and complex, dispersed transactional data.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02763"/>
            <a:ext cx="16936695" cy="9372616"/>
            <a:chOff x="0" y="0"/>
            <a:chExt cx="4460693" cy="24685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0693" cy="2468508"/>
            </a:xfrm>
            <a:custGeom>
              <a:avLst/>
              <a:gdLst/>
              <a:ahLst/>
              <a:cxnLst/>
              <a:rect r="r" b="b" t="t" l="l"/>
              <a:pathLst>
                <a:path h="2468508" w="4460693">
                  <a:moveTo>
                    <a:pt x="0" y="0"/>
                  </a:moveTo>
                  <a:lnTo>
                    <a:pt x="4460693" y="0"/>
                  </a:lnTo>
                  <a:lnTo>
                    <a:pt x="4460693" y="2468508"/>
                  </a:lnTo>
                  <a:lnTo>
                    <a:pt x="0" y="2468508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4460693" cy="2420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7259300" y="-2124463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351626" y="9258300"/>
            <a:ext cx="6411237" cy="3508695"/>
          </a:xfrm>
          <a:custGeom>
            <a:avLst/>
            <a:gdLst/>
            <a:ahLst/>
            <a:cxnLst/>
            <a:rect r="r" b="b" t="t" l="l"/>
            <a:pathLst>
              <a:path h="3508695" w="6411237">
                <a:moveTo>
                  <a:pt x="0" y="0"/>
                </a:moveTo>
                <a:lnTo>
                  <a:pt x="6411237" y="0"/>
                </a:lnTo>
                <a:lnTo>
                  <a:pt x="6411237" y="3508695"/>
                </a:lnTo>
                <a:lnTo>
                  <a:pt x="0" y="35086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89484" y="1011796"/>
            <a:ext cx="12309032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sz="4700">
                <a:solidFill>
                  <a:srgbClr val="09428E"/>
                </a:solidFill>
                <a:latin typeface="Roca One"/>
                <a:ea typeface="Roca One"/>
                <a:cs typeface="Roca One"/>
                <a:sym typeface="Roca One"/>
              </a:rPr>
              <a:t>EXECUTIVE SUMMARY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69311" y="1603650"/>
            <a:ext cx="15132233" cy="2323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2"/>
              </a:lnSpc>
            </a:pPr>
            <a:r>
              <a:rPr lang="en-US" sz="2644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Instac</a:t>
            </a:r>
            <a:r>
              <a:rPr lang="en-US" sz="2644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art is a grocery delivery platform whose customers exhibit clear temporal shopping patterns and concentrated repeat-purchase behavior. A small set of products and departments account for most reorders, with high-frequency users driving a disproportionate share of the volume. Several product pairs also demonstrate strong co-purchase relationships, indicating cross-sell potential.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862250" y="4360126"/>
            <a:ext cx="15389989" cy="4206918"/>
            <a:chOff x="0" y="0"/>
            <a:chExt cx="20519985" cy="560922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164319" y="4539249"/>
              <a:ext cx="20355666" cy="1069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  <a:spcBef>
                  <a:spcPct val="0"/>
                </a:spcBef>
              </a:pPr>
              <a:r>
                <a:rPr lang="en-US" sz="3000" spc="44">
                  <a:solidFill>
                    <a:srgbClr val="09428E"/>
                  </a:solidFill>
                  <a:latin typeface="Assistant"/>
                  <a:ea typeface="Assistant"/>
                  <a:cs typeface="Assistant"/>
                  <a:sym typeface="Assistant"/>
                </a:rPr>
                <a:t>Instacart’s mission is to create a world where everyone has access to the food they love and more time to enjoy it together.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0" y="0"/>
              <a:ext cx="5878633" cy="4114800"/>
              <a:chOff x="0" y="0"/>
              <a:chExt cx="1161211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6121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61211">
                    <a:moveTo>
                      <a:pt x="1001191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652780"/>
                    </a:lnTo>
                    <a:lnTo>
                      <a:pt x="160020" y="812800"/>
                    </a:lnTo>
                    <a:lnTo>
                      <a:pt x="1001191" y="812800"/>
                    </a:lnTo>
                    <a:lnTo>
                      <a:pt x="1161211" y="652780"/>
                    </a:lnTo>
                    <a:lnTo>
                      <a:pt x="1161211" y="160020"/>
                    </a:lnTo>
                    <a:lnTo>
                      <a:pt x="1001191" y="0"/>
                    </a:lnTo>
                    <a:close/>
                  </a:path>
                </a:pathLst>
              </a:custGeom>
              <a:solidFill>
                <a:srgbClr val="58A04E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63500" y="-3175"/>
                <a:ext cx="1034211" cy="752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39"/>
                  </a:lnSpc>
                </a:pPr>
                <a:r>
                  <a:rPr lang="en-US" sz="3599" b="true">
                    <a:solidFill>
                      <a:srgbClr val="000000"/>
                    </a:solidFill>
                    <a:latin typeface="Assistant Bold"/>
                    <a:ea typeface="Assistant Bold"/>
                    <a:cs typeface="Assistant Bold"/>
                    <a:sym typeface="Assistant Bold"/>
                  </a:rPr>
                  <a:t>Key Finding</a:t>
                </a:r>
              </a:p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Reorder hotspots</a:t>
                </a:r>
              </a:p>
              <a:p>
                <a:pPr algn="ctr">
                  <a:lnSpc>
                    <a:spcPts val="265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 Light/Medium/Heavy segments differ in reorder probability and responsiveness to offers.</a:t>
                </a:r>
              </a:p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6381716" y="0"/>
              <a:ext cx="6790781" cy="4114800"/>
              <a:chOff x="0" y="0"/>
              <a:chExt cx="1341389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4138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41389">
                    <a:moveTo>
                      <a:pt x="1181369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652780"/>
                    </a:lnTo>
                    <a:lnTo>
                      <a:pt x="160020" y="812800"/>
                    </a:lnTo>
                    <a:lnTo>
                      <a:pt x="1181369" y="812800"/>
                    </a:lnTo>
                    <a:lnTo>
                      <a:pt x="1341389" y="652780"/>
                    </a:lnTo>
                    <a:lnTo>
                      <a:pt x="1341389" y="160020"/>
                    </a:lnTo>
                    <a:lnTo>
                      <a:pt x="1181369" y="0"/>
                    </a:lnTo>
                    <a:close/>
                  </a:path>
                </a:pathLst>
              </a:custGeom>
              <a:solidFill>
                <a:srgbClr val="58A04E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63500" y="6350"/>
                <a:ext cx="1214389" cy="742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899"/>
                  </a:lnSpc>
                </a:pPr>
                <a:r>
                  <a:rPr lang="en-US" sz="3499" b="true">
                    <a:solidFill>
                      <a:srgbClr val="000000"/>
                    </a:solidFill>
                    <a:latin typeface="Assistant Bold"/>
                    <a:ea typeface="Assistant Bold"/>
                    <a:cs typeface="Assistant Bold"/>
                    <a:sym typeface="Assistant Bold"/>
                  </a:rPr>
                  <a:t>Recommended Actions</a:t>
                </a:r>
              </a:p>
              <a:p>
                <a:pPr algn="ctr">
                  <a:lnSpc>
                    <a:spcPts val="252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Reorder hotspots</a:t>
                </a:r>
              </a:p>
              <a:p>
                <a:pPr algn="ctr">
                  <a:lnSpc>
                    <a:spcPts val="252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 Light/Medium/Heavy segments differ in reorder probability and responsiveness to offers.</a:t>
                </a:r>
              </a:p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3676032" y="0"/>
              <a:ext cx="6664598" cy="4114800"/>
              <a:chOff x="0" y="0"/>
              <a:chExt cx="1316464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31646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16464">
                    <a:moveTo>
                      <a:pt x="1156444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652780"/>
                    </a:lnTo>
                    <a:lnTo>
                      <a:pt x="160020" y="812800"/>
                    </a:lnTo>
                    <a:lnTo>
                      <a:pt x="1156444" y="812800"/>
                    </a:lnTo>
                    <a:lnTo>
                      <a:pt x="1316464" y="652780"/>
                    </a:lnTo>
                    <a:lnTo>
                      <a:pt x="1316464" y="160020"/>
                    </a:lnTo>
                    <a:lnTo>
                      <a:pt x="1156444" y="0"/>
                    </a:lnTo>
                    <a:close/>
                  </a:path>
                </a:pathLst>
              </a:custGeom>
              <a:solidFill>
                <a:srgbClr val="58A04E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63500" y="-3175"/>
                <a:ext cx="1189464" cy="752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179"/>
                  </a:lnSpc>
                </a:pPr>
                <a:r>
                  <a:rPr lang="en-US" sz="3699" b="true">
                    <a:solidFill>
                      <a:srgbClr val="000000"/>
                    </a:solidFill>
                    <a:latin typeface="Assistant Bold"/>
                    <a:ea typeface="Assistant Bold"/>
                    <a:cs typeface="Assistant Bold"/>
                    <a:sym typeface="Assistant Bold"/>
                  </a:rPr>
                  <a:t>Success Metrics</a:t>
                </a:r>
              </a:p>
              <a:p>
                <a:pPr algn="ctr">
                  <a:lnSpc>
                    <a:spcPts val="2799"/>
                  </a:lnSpc>
                </a:pPr>
                <a:r>
                  <a:rPr lang="en-US" sz="1999">
                    <a:solidFill>
                      <a:srgbClr val="000000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Descriptive, Predictive, </a:t>
                </a:r>
              </a:p>
              <a:p>
                <a:pPr algn="ctr">
                  <a:lnSpc>
                    <a:spcPts val="2799"/>
                  </a:lnSpc>
                  <a:spcBef>
                    <a:spcPct val="0"/>
                  </a:spcBef>
                </a:pPr>
                <a:r>
                  <a:rPr lang="en-US" sz="1999">
                    <a:solidFill>
                      <a:srgbClr val="000000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Operational (reduced under/over‑staffing hours)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02763"/>
            <a:ext cx="16936695" cy="9372616"/>
            <a:chOff x="0" y="0"/>
            <a:chExt cx="4460693" cy="24685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0693" cy="2468508"/>
            </a:xfrm>
            <a:custGeom>
              <a:avLst/>
              <a:gdLst/>
              <a:ahLst/>
              <a:cxnLst/>
              <a:rect r="r" b="b" t="t" l="l"/>
              <a:pathLst>
                <a:path h="2468508" w="4460693">
                  <a:moveTo>
                    <a:pt x="0" y="0"/>
                  </a:moveTo>
                  <a:lnTo>
                    <a:pt x="4460693" y="0"/>
                  </a:lnTo>
                  <a:lnTo>
                    <a:pt x="4460693" y="2468508"/>
                  </a:lnTo>
                  <a:lnTo>
                    <a:pt x="0" y="2468508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4460693" cy="2420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888350" y="-2312817"/>
            <a:ext cx="8045188" cy="8163936"/>
          </a:xfrm>
          <a:custGeom>
            <a:avLst/>
            <a:gdLst/>
            <a:ahLst/>
            <a:cxnLst/>
            <a:rect r="r" b="b" t="t" l="l"/>
            <a:pathLst>
              <a:path h="8163936" w="8045188">
                <a:moveTo>
                  <a:pt x="8045187" y="8163936"/>
                </a:moveTo>
                <a:lnTo>
                  <a:pt x="0" y="8163936"/>
                </a:lnTo>
                <a:lnTo>
                  <a:pt x="0" y="0"/>
                </a:lnTo>
                <a:lnTo>
                  <a:pt x="8045187" y="0"/>
                </a:lnTo>
                <a:lnTo>
                  <a:pt x="8045187" y="816393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4350572"/>
            <a:ext cx="8144280" cy="8264491"/>
          </a:xfrm>
          <a:custGeom>
            <a:avLst/>
            <a:gdLst/>
            <a:ahLst/>
            <a:cxnLst/>
            <a:rect r="r" b="b" t="t" l="l"/>
            <a:pathLst>
              <a:path h="8264491" w="8144280">
                <a:moveTo>
                  <a:pt x="0" y="0"/>
                </a:moveTo>
                <a:lnTo>
                  <a:pt x="8144280" y="0"/>
                </a:lnTo>
                <a:lnTo>
                  <a:pt x="8144280" y="8264491"/>
                </a:lnTo>
                <a:lnTo>
                  <a:pt x="0" y="82644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351626" y="9258300"/>
            <a:ext cx="6411237" cy="3508695"/>
          </a:xfrm>
          <a:custGeom>
            <a:avLst/>
            <a:gdLst/>
            <a:ahLst/>
            <a:cxnLst/>
            <a:rect r="r" b="b" t="t" l="l"/>
            <a:pathLst>
              <a:path h="3508695" w="6411237">
                <a:moveTo>
                  <a:pt x="0" y="0"/>
                </a:moveTo>
                <a:lnTo>
                  <a:pt x="6411237" y="0"/>
                </a:lnTo>
                <a:lnTo>
                  <a:pt x="6411237" y="3508695"/>
                </a:lnTo>
                <a:lnTo>
                  <a:pt x="0" y="35086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89484" y="1011796"/>
            <a:ext cx="12309032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sz="4700">
                <a:solidFill>
                  <a:srgbClr val="09428E"/>
                </a:solidFill>
                <a:latin typeface="Roca One"/>
                <a:ea typeface="Roca One"/>
                <a:cs typeface="Roca One"/>
                <a:sym typeface="Roca One"/>
              </a:rPr>
              <a:t>METHODOLOGY APPROACH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07738" y="1950460"/>
            <a:ext cx="15280611" cy="6971779"/>
          </a:xfrm>
          <a:custGeom>
            <a:avLst/>
            <a:gdLst/>
            <a:ahLst/>
            <a:cxnLst/>
            <a:rect r="r" b="b" t="t" l="l"/>
            <a:pathLst>
              <a:path h="6971779" w="15280611">
                <a:moveTo>
                  <a:pt x="0" y="0"/>
                </a:moveTo>
                <a:lnTo>
                  <a:pt x="15280612" y="0"/>
                </a:lnTo>
                <a:lnTo>
                  <a:pt x="15280612" y="6971779"/>
                </a:lnTo>
                <a:lnTo>
                  <a:pt x="0" y="69717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02763"/>
            <a:ext cx="16936695" cy="9372616"/>
            <a:chOff x="0" y="0"/>
            <a:chExt cx="4460693" cy="24685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0693" cy="2468508"/>
            </a:xfrm>
            <a:custGeom>
              <a:avLst/>
              <a:gdLst/>
              <a:ahLst/>
              <a:cxnLst/>
              <a:rect r="r" b="b" t="t" l="l"/>
              <a:pathLst>
                <a:path h="2468508" w="4460693">
                  <a:moveTo>
                    <a:pt x="0" y="0"/>
                  </a:moveTo>
                  <a:lnTo>
                    <a:pt x="4460693" y="0"/>
                  </a:lnTo>
                  <a:lnTo>
                    <a:pt x="4460693" y="2468508"/>
                  </a:lnTo>
                  <a:lnTo>
                    <a:pt x="0" y="2468508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4460693" cy="2420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351626" y="9258300"/>
            <a:ext cx="6411237" cy="3508695"/>
          </a:xfrm>
          <a:custGeom>
            <a:avLst/>
            <a:gdLst/>
            <a:ahLst/>
            <a:cxnLst/>
            <a:rect r="r" b="b" t="t" l="l"/>
            <a:pathLst>
              <a:path h="3508695" w="6411237">
                <a:moveTo>
                  <a:pt x="0" y="0"/>
                </a:moveTo>
                <a:lnTo>
                  <a:pt x="6411237" y="0"/>
                </a:lnTo>
                <a:lnTo>
                  <a:pt x="6411237" y="3508695"/>
                </a:lnTo>
                <a:lnTo>
                  <a:pt x="0" y="35086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46086" y="1011796"/>
            <a:ext cx="14763960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sz="4700">
                <a:solidFill>
                  <a:srgbClr val="09428E"/>
                </a:solidFill>
                <a:latin typeface="Roca One"/>
                <a:ea typeface="Roca One"/>
                <a:cs typeface="Roca One"/>
                <a:sym typeface="Roca One"/>
              </a:rPr>
              <a:t>EXPLORE, BUSINESS QUESTIONS &amp; INSIGHTs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208576" y="1439446"/>
            <a:ext cx="9815688" cy="8335932"/>
          </a:xfrm>
          <a:custGeom>
            <a:avLst/>
            <a:gdLst/>
            <a:ahLst/>
            <a:cxnLst/>
            <a:rect r="r" b="b" t="t" l="l"/>
            <a:pathLst>
              <a:path h="8335932" w="9815688">
                <a:moveTo>
                  <a:pt x="0" y="0"/>
                </a:moveTo>
                <a:lnTo>
                  <a:pt x="9815688" y="0"/>
                </a:lnTo>
                <a:lnTo>
                  <a:pt x="9815688" y="8335933"/>
                </a:lnTo>
                <a:lnTo>
                  <a:pt x="0" y="83359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328" t="-265" r="0" b="-265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02763"/>
            <a:ext cx="16936695" cy="9372616"/>
            <a:chOff x="0" y="0"/>
            <a:chExt cx="4460693" cy="24685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0693" cy="2468508"/>
            </a:xfrm>
            <a:custGeom>
              <a:avLst/>
              <a:gdLst/>
              <a:ahLst/>
              <a:cxnLst/>
              <a:rect r="r" b="b" t="t" l="l"/>
              <a:pathLst>
                <a:path h="2468508" w="4460693">
                  <a:moveTo>
                    <a:pt x="0" y="0"/>
                  </a:moveTo>
                  <a:lnTo>
                    <a:pt x="4460693" y="0"/>
                  </a:lnTo>
                  <a:lnTo>
                    <a:pt x="4460693" y="2468508"/>
                  </a:lnTo>
                  <a:lnTo>
                    <a:pt x="0" y="2468508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4460693" cy="2420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351626" y="9258300"/>
            <a:ext cx="6411237" cy="3508695"/>
          </a:xfrm>
          <a:custGeom>
            <a:avLst/>
            <a:gdLst/>
            <a:ahLst/>
            <a:cxnLst/>
            <a:rect r="r" b="b" t="t" l="l"/>
            <a:pathLst>
              <a:path h="3508695" w="6411237">
                <a:moveTo>
                  <a:pt x="0" y="0"/>
                </a:moveTo>
                <a:lnTo>
                  <a:pt x="6411237" y="0"/>
                </a:lnTo>
                <a:lnTo>
                  <a:pt x="6411237" y="3508695"/>
                </a:lnTo>
                <a:lnTo>
                  <a:pt x="0" y="35086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80372" y="875686"/>
            <a:ext cx="7863628" cy="35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3000">
                <a:solidFill>
                  <a:srgbClr val="09428E"/>
                </a:solidFill>
                <a:latin typeface="Roca One"/>
                <a:ea typeface="Roca One"/>
                <a:cs typeface="Roca One"/>
                <a:sym typeface="Roca One"/>
              </a:rPr>
              <a:t>Q: Repeat Purchase Rate (Reorder Rate)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80372" y="1555357"/>
            <a:ext cx="7303350" cy="3161260"/>
          </a:xfrm>
          <a:custGeom>
            <a:avLst/>
            <a:gdLst/>
            <a:ahLst/>
            <a:cxnLst/>
            <a:rect r="r" b="b" t="t" l="l"/>
            <a:pathLst>
              <a:path h="3161260" w="7303350">
                <a:moveTo>
                  <a:pt x="0" y="0"/>
                </a:moveTo>
                <a:lnTo>
                  <a:pt x="7303350" y="0"/>
                </a:lnTo>
                <a:lnTo>
                  <a:pt x="7303350" y="3161259"/>
                </a:lnTo>
                <a:lnTo>
                  <a:pt x="0" y="31612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54" t="-4956" r="-14633" b="-495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56423" y="1555357"/>
            <a:ext cx="6253623" cy="3137339"/>
          </a:xfrm>
          <a:custGeom>
            <a:avLst/>
            <a:gdLst/>
            <a:ahLst/>
            <a:cxnLst/>
            <a:rect r="r" b="b" t="t" l="l"/>
            <a:pathLst>
              <a:path h="3137339" w="6253623">
                <a:moveTo>
                  <a:pt x="0" y="0"/>
                </a:moveTo>
                <a:lnTo>
                  <a:pt x="6253623" y="0"/>
                </a:lnTo>
                <a:lnTo>
                  <a:pt x="6253623" y="3137339"/>
                </a:lnTo>
                <a:lnTo>
                  <a:pt x="0" y="31373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056423" y="4841577"/>
            <a:ext cx="7202877" cy="5004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942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High-frequency users reo</a:t>
            </a:r>
            <a:r>
              <a:rPr lang="en-US" sz="17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rder the most, but medium-frequency users are the</a:t>
            </a:r>
            <a:r>
              <a:rPr lang="en-US" sz="17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 largest group.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Low-frequency users show the weakest retention.</a:t>
            </a: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942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Explains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High-frequency c</a:t>
            </a:r>
            <a:r>
              <a:rPr lang="en-US" sz="17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ustomers are highly loyal; medium-frequency users have strong potential; low-frequency customers engage only occasionally.</a:t>
            </a: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942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Actions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n-US" sz="17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oost loyalty for high-frequency users (early access, recurring-order perks).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Encourage medium-frequency users with reminders and targeted offers.</a:t>
            </a: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Reactivate low-frequency users with first-reorder incentives and reduced friction.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8593" y="4576645"/>
            <a:ext cx="1060669" cy="1024852"/>
          </a:xfrm>
          <a:custGeom>
            <a:avLst/>
            <a:gdLst/>
            <a:ahLst/>
            <a:cxnLst/>
            <a:rect r="r" b="b" t="t" l="l"/>
            <a:pathLst>
              <a:path h="1024852" w="1060669">
                <a:moveTo>
                  <a:pt x="0" y="0"/>
                </a:moveTo>
                <a:lnTo>
                  <a:pt x="1060669" y="0"/>
                </a:lnTo>
                <a:lnTo>
                  <a:pt x="1060669" y="1024852"/>
                </a:lnTo>
                <a:lnTo>
                  <a:pt x="0" y="10248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91762" t="-15290" r="0" b="-22375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92551" y="5428094"/>
            <a:ext cx="7082166" cy="2811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942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</a:t>
            </a: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The most frequently reordered products are fresh essentials (bananas, milk, avoc</a:t>
            </a: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ados).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true">
                <a:solidFill>
                  <a:srgbClr val="0942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Explains</a:t>
            </a: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 Users return to Instacart to restock these staples on a weekly basis.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true">
                <a:solidFill>
                  <a:srgbClr val="0942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Action</a:t>
            </a: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 Keeping these items in stock and offering personalized suggestions can strengthen customer loyalty.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56423" y="839756"/>
            <a:ext cx="6253623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3100">
                <a:solidFill>
                  <a:srgbClr val="09428E"/>
                </a:solidFill>
                <a:latin typeface="Roca One"/>
                <a:ea typeface="Roca One"/>
                <a:cs typeface="Roca One"/>
                <a:sym typeface="Roca One"/>
              </a:rPr>
              <a:t>Q: Customer Segments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02763"/>
            <a:ext cx="16936695" cy="9372616"/>
            <a:chOff x="0" y="0"/>
            <a:chExt cx="4460693" cy="24685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0693" cy="2468508"/>
            </a:xfrm>
            <a:custGeom>
              <a:avLst/>
              <a:gdLst/>
              <a:ahLst/>
              <a:cxnLst/>
              <a:rect r="r" b="b" t="t" l="l"/>
              <a:pathLst>
                <a:path h="2468508" w="4460693">
                  <a:moveTo>
                    <a:pt x="0" y="0"/>
                  </a:moveTo>
                  <a:lnTo>
                    <a:pt x="4460693" y="0"/>
                  </a:lnTo>
                  <a:lnTo>
                    <a:pt x="4460693" y="2468508"/>
                  </a:lnTo>
                  <a:lnTo>
                    <a:pt x="0" y="2468508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4460693" cy="2420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5938381" y="9316223"/>
            <a:ext cx="6411237" cy="3508695"/>
          </a:xfrm>
          <a:custGeom>
            <a:avLst/>
            <a:gdLst/>
            <a:ahLst/>
            <a:cxnLst/>
            <a:rect r="r" b="b" t="t" l="l"/>
            <a:pathLst>
              <a:path h="3508695" w="6411237">
                <a:moveTo>
                  <a:pt x="0" y="0"/>
                </a:moveTo>
                <a:lnTo>
                  <a:pt x="6411238" y="0"/>
                </a:lnTo>
                <a:lnTo>
                  <a:pt x="6411238" y="3508695"/>
                </a:lnTo>
                <a:lnTo>
                  <a:pt x="0" y="35086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2194223"/>
            <a:ext cx="9128610" cy="3159344"/>
          </a:xfrm>
          <a:custGeom>
            <a:avLst/>
            <a:gdLst/>
            <a:ahLst/>
            <a:cxnLst/>
            <a:rect r="r" b="b" t="t" l="l"/>
            <a:pathLst>
              <a:path h="3159344" w="9128610">
                <a:moveTo>
                  <a:pt x="0" y="0"/>
                </a:moveTo>
                <a:lnTo>
                  <a:pt x="9128610" y="0"/>
                </a:lnTo>
                <a:lnTo>
                  <a:pt x="9128610" y="3159344"/>
                </a:lnTo>
                <a:lnTo>
                  <a:pt x="0" y="31593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5638543"/>
            <a:ext cx="8700429" cy="3334780"/>
          </a:xfrm>
          <a:custGeom>
            <a:avLst/>
            <a:gdLst/>
            <a:ahLst/>
            <a:cxnLst/>
            <a:rect r="r" b="b" t="t" l="l"/>
            <a:pathLst>
              <a:path h="3334780" w="8700429">
                <a:moveTo>
                  <a:pt x="0" y="0"/>
                </a:moveTo>
                <a:lnTo>
                  <a:pt x="8700429" y="0"/>
                </a:lnTo>
                <a:lnTo>
                  <a:pt x="8700429" y="3334780"/>
                </a:lnTo>
                <a:lnTo>
                  <a:pt x="0" y="33347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89484" y="1011796"/>
            <a:ext cx="12309032" cy="91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sz="4700">
                <a:solidFill>
                  <a:srgbClr val="09428E"/>
                </a:solidFill>
                <a:latin typeface="Roca One"/>
                <a:ea typeface="Roca One"/>
                <a:cs typeface="Roca One"/>
                <a:sym typeface="Roca One"/>
              </a:rPr>
              <a:t>Q: Ordering Behavior </a:t>
            </a:r>
          </a:p>
          <a:p>
            <a:pPr algn="ctr">
              <a:lnSpc>
                <a:spcPts val="3120"/>
              </a:lnSpc>
            </a:pPr>
            <a:r>
              <a:rPr lang="en-US" sz="3900">
                <a:solidFill>
                  <a:srgbClr val="09428E"/>
                </a:solidFill>
                <a:latin typeface="Roca One"/>
                <a:ea typeface="Roca One"/>
                <a:cs typeface="Roca One"/>
                <a:sym typeface="Roca One"/>
              </a:rPr>
              <a:t>(Day of Week and Hour of Day)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39373" y="2669948"/>
            <a:ext cx="6990152" cy="559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0"/>
              </a:lnSpc>
            </a:pPr>
            <a:r>
              <a:rPr lang="en-US" sz="1707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7" b="true">
                <a:solidFill>
                  <a:srgbClr val="0942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</a:t>
            </a:r>
          </a:p>
          <a:p>
            <a:pPr algn="l" marL="368711" indent="-184356" lvl="1">
              <a:lnSpc>
                <a:spcPts val="2390"/>
              </a:lnSpc>
              <a:buFont typeface="Arial"/>
              <a:buChar char="•"/>
            </a:pPr>
            <a:r>
              <a:rPr lang="en-US" sz="1707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Ordering activity peaks on Sundays, Saturdays, and Mond</a:t>
            </a:r>
            <a:r>
              <a:rPr lang="en-US" sz="1707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ays, and drops to its lowest level mid-week. By hour, demand is highest between 10:00 AM and 3:00 PM, with very low activity from 12:00 AM to 5:00 AM.</a:t>
            </a:r>
          </a:p>
          <a:p>
            <a:pPr algn="l">
              <a:lnSpc>
                <a:spcPts val="2390"/>
              </a:lnSpc>
            </a:pPr>
            <a:r>
              <a:rPr lang="en-US" sz="1707" b="true">
                <a:solidFill>
                  <a:srgbClr val="0942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Explanation</a:t>
            </a:r>
          </a:p>
          <a:p>
            <a:pPr algn="l" marL="368711" indent="-184356" lvl="1">
              <a:lnSpc>
                <a:spcPts val="2390"/>
              </a:lnSpc>
              <a:buFont typeface="Arial"/>
              <a:buChar char="•"/>
            </a:pPr>
            <a:r>
              <a:rPr lang="en-US" sz="1707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Customers rely heavily on Instacart for weekend shopping and weekly restocks.</a:t>
            </a:r>
          </a:p>
          <a:p>
            <a:pPr algn="l" marL="368711" indent="-184356" lvl="1">
              <a:lnSpc>
                <a:spcPts val="2390"/>
              </a:lnSpc>
              <a:buFont typeface="Arial"/>
              <a:buChar char="•"/>
            </a:pPr>
            <a:r>
              <a:rPr lang="en-US" sz="1707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Peak midday hours reflect when most users are actively planning meals or preparing for the week.</a:t>
            </a:r>
          </a:p>
          <a:p>
            <a:pPr algn="l">
              <a:lnSpc>
                <a:spcPts val="2390"/>
              </a:lnSpc>
            </a:pPr>
            <a:r>
              <a:rPr lang="en-US" sz="1707" b="true">
                <a:solidFill>
                  <a:srgbClr val="0942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Actions</a:t>
            </a:r>
          </a:p>
          <a:p>
            <a:pPr algn="l" marL="368711" indent="-184356" lvl="1">
              <a:lnSpc>
                <a:spcPts val="2390"/>
              </a:lnSpc>
              <a:buFont typeface="Arial"/>
              <a:buChar char="•"/>
            </a:pPr>
            <a:r>
              <a:rPr lang="en-US" sz="1707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Scale operational capacity (customer support, real-time monitoring, delivery coordination) during weekend and midday peaks.</a:t>
            </a:r>
          </a:p>
          <a:p>
            <a:pPr algn="l" marL="368711" indent="-184356" lvl="1">
              <a:lnSpc>
                <a:spcPts val="2390"/>
              </a:lnSpc>
              <a:buFont typeface="Arial"/>
              <a:buChar char="•"/>
            </a:pPr>
            <a:r>
              <a:rPr lang="en-US" sz="1707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Schedule app maintenance and shopper training during low-demand periods.</a:t>
            </a:r>
          </a:p>
          <a:p>
            <a:pPr algn="l" marL="368711" indent="-184356" lvl="1">
              <a:lnSpc>
                <a:spcPts val="2390"/>
              </a:lnSpc>
              <a:buFont typeface="Arial"/>
              <a:buChar char="•"/>
            </a:pPr>
            <a:r>
              <a:rPr lang="en-US" sz="1707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Use peak-time insights to optimize staffing and ensure fast, reliable service during high-volume periods.</a:t>
            </a:r>
          </a:p>
          <a:p>
            <a:pPr algn="l">
              <a:lnSpc>
                <a:spcPts val="239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56454"/>
            <a:ext cx="16936695" cy="9372616"/>
            <a:chOff x="0" y="0"/>
            <a:chExt cx="4460693" cy="24685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0693" cy="2468508"/>
            </a:xfrm>
            <a:custGeom>
              <a:avLst/>
              <a:gdLst/>
              <a:ahLst/>
              <a:cxnLst/>
              <a:rect r="r" b="b" t="t" l="l"/>
              <a:pathLst>
                <a:path h="2468508" w="4460693">
                  <a:moveTo>
                    <a:pt x="0" y="0"/>
                  </a:moveTo>
                  <a:lnTo>
                    <a:pt x="4460693" y="0"/>
                  </a:lnTo>
                  <a:lnTo>
                    <a:pt x="4460693" y="2468508"/>
                  </a:lnTo>
                  <a:lnTo>
                    <a:pt x="0" y="2468508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4460693" cy="2420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351626" y="9258300"/>
            <a:ext cx="6411237" cy="3508695"/>
          </a:xfrm>
          <a:custGeom>
            <a:avLst/>
            <a:gdLst/>
            <a:ahLst/>
            <a:cxnLst/>
            <a:rect r="r" b="b" t="t" l="l"/>
            <a:pathLst>
              <a:path h="3508695" w="6411237">
                <a:moveTo>
                  <a:pt x="0" y="0"/>
                </a:moveTo>
                <a:lnTo>
                  <a:pt x="6411237" y="0"/>
                </a:lnTo>
                <a:lnTo>
                  <a:pt x="6411237" y="3508695"/>
                </a:lnTo>
                <a:lnTo>
                  <a:pt x="0" y="35086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81187" y="1920090"/>
            <a:ext cx="8261684" cy="5297805"/>
          </a:xfrm>
          <a:custGeom>
            <a:avLst/>
            <a:gdLst/>
            <a:ahLst/>
            <a:cxnLst/>
            <a:rect r="r" b="b" t="t" l="l"/>
            <a:pathLst>
              <a:path h="5297805" w="8261684">
                <a:moveTo>
                  <a:pt x="0" y="0"/>
                </a:moveTo>
                <a:lnTo>
                  <a:pt x="8261684" y="0"/>
                </a:lnTo>
                <a:lnTo>
                  <a:pt x="8261684" y="5297804"/>
                </a:lnTo>
                <a:lnTo>
                  <a:pt x="0" y="529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89484" y="1011796"/>
            <a:ext cx="13320562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sz="4700">
                <a:solidFill>
                  <a:srgbClr val="09428E"/>
                </a:solidFill>
                <a:latin typeface="Roca One"/>
                <a:ea typeface="Roca One"/>
                <a:cs typeface="Roca One"/>
                <a:sym typeface="Roca One"/>
              </a:rPr>
              <a:t>Q: Co-Purchase Analysis (Top Product Pairs)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42871" y="2224757"/>
            <a:ext cx="7580522" cy="532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true">
                <a:solidFill>
                  <a:srgbClr val="0942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The highest reo</a:t>
            </a: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rder rates come from fresh essentials (banan</a:t>
            </a: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as, milk, avocados, berries, spinach).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These items act as anchor products-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true">
                <a:solidFill>
                  <a:srgbClr val="0942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Explains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Customers consistently rely on Instacart to replenish these staples.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These products drive repeat traffic to the platform and represent predictable, recurring demand.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942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Actions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Ensur</a:t>
            </a: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e consistent stock availability for top staples to avoid missed sales and customer frustration.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Promote personalized recommendations (e.g., “Buy again” or “Complete your basket”).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Bundle fresh essentials with complementary items (e.g., bananas + yogurt; avocados + tortillas) to increase average order value.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5652" y="581625"/>
            <a:ext cx="16936695" cy="9372616"/>
            <a:chOff x="0" y="0"/>
            <a:chExt cx="4460693" cy="24685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0693" cy="2468508"/>
            </a:xfrm>
            <a:custGeom>
              <a:avLst/>
              <a:gdLst/>
              <a:ahLst/>
              <a:cxnLst/>
              <a:rect r="r" b="b" t="t" l="l"/>
              <a:pathLst>
                <a:path h="2468508" w="4460693">
                  <a:moveTo>
                    <a:pt x="0" y="0"/>
                  </a:moveTo>
                  <a:lnTo>
                    <a:pt x="4460693" y="0"/>
                  </a:lnTo>
                  <a:lnTo>
                    <a:pt x="4460693" y="2468508"/>
                  </a:lnTo>
                  <a:lnTo>
                    <a:pt x="0" y="2468508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4460693" cy="2420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291429" y="9954240"/>
            <a:ext cx="6411237" cy="3508695"/>
          </a:xfrm>
          <a:custGeom>
            <a:avLst/>
            <a:gdLst/>
            <a:ahLst/>
            <a:cxnLst/>
            <a:rect r="r" b="b" t="t" l="l"/>
            <a:pathLst>
              <a:path h="3508695" w="6411237">
                <a:moveTo>
                  <a:pt x="0" y="0"/>
                </a:moveTo>
                <a:lnTo>
                  <a:pt x="6411237" y="0"/>
                </a:lnTo>
                <a:lnTo>
                  <a:pt x="6411237" y="3508696"/>
                </a:lnTo>
                <a:lnTo>
                  <a:pt x="0" y="35086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63889" y="968330"/>
            <a:ext cx="13320562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sz="4700">
                <a:solidFill>
                  <a:srgbClr val="09428E"/>
                </a:solidFill>
                <a:latin typeface="Roca One"/>
                <a:ea typeface="Roca One"/>
                <a:cs typeface="Roca One"/>
                <a:sym typeface="Roca One"/>
              </a:rPr>
              <a:t>CONCLUSION &amp; RECOMMENDATION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2497" y="1550670"/>
            <a:ext cx="14303007" cy="770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942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  <a:p>
            <a:pPr algn="l">
              <a:lnSpc>
                <a:spcPts val="2520"/>
              </a:lnSpc>
            </a:pP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sers plac</a:t>
            </a: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e most orders </a:t>
            </a: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on weekends and</a:t>
            </a: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 d</a:t>
            </a: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uring late-morning/early-afternoon hours, revealing predictable demand peaks.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Fresh essentials (bananas, milk, avocados) drive the highest reorder rates, confirming they are core items in customers’ weekly shopping.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Most frequently purchased pairs are fruits and vegetables, showing consistent patterns in healthy and routine-oriented purchasing.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High-frequency users show strong loyalty, while medium-frequency users form the largest and most scalable segment.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942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RECOMMENDATION</a:t>
            </a:r>
          </a:p>
          <a:p>
            <a:pPr algn="l">
              <a:lnSpc>
                <a:spcPts val="2800"/>
              </a:lnSpc>
            </a:pP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Ensure maximum platform capacity and shopper availability during peak hours (10 AM–3 PM) and weekends.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Guarantee constant stock for essential staples to maintain customer satisfaction and prevent order cancellations.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Introduce automated complementary-product suggestions based on the most common product pairs.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Segment Strategy:</a:t>
            </a:r>
          </a:p>
          <a:p>
            <a:pPr algn="l" marL="863604" indent="-287868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High-frequency: loyalty programs and exclusive perks.</a:t>
            </a:r>
          </a:p>
          <a:p>
            <a:pPr algn="l" marL="863604" indent="-287868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Medium-frequency: personalized promotions to increase reorder likelihood.</a:t>
            </a:r>
          </a:p>
          <a:p>
            <a:pPr algn="l" marL="863604" indent="-287868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9428E"/>
                </a:solidFill>
                <a:latin typeface="Open Sans"/>
                <a:ea typeface="Open Sans"/>
                <a:cs typeface="Open Sans"/>
                <a:sym typeface="Open Sans"/>
              </a:rPr>
              <a:t>Low-frequency: reactivation offers and reminders to bring them back.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6351626" y="9258300"/>
            <a:ext cx="6411237" cy="3508695"/>
          </a:xfrm>
          <a:custGeom>
            <a:avLst/>
            <a:gdLst/>
            <a:ahLst/>
            <a:cxnLst/>
            <a:rect r="r" b="b" t="t" l="l"/>
            <a:pathLst>
              <a:path h="3508695" w="6411237">
                <a:moveTo>
                  <a:pt x="0" y="0"/>
                </a:moveTo>
                <a:lnTo>
                  <a:pt x="6411237" y="0"/>
                </a:lnTo>
                <a:lnTo>
                  <a:pt x="6411237" y="3508695"/>
                </a:lnTo>
                <a:lnTo>
                  <a:pt x="0" y="35086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51626" y="3864288"/>
            <a:ext cx="5981496" cy="3554577"/>
          </a:xfrm>
          <a:custGeom>
            <a:avLst/>
            <a:gdLst/>
            <a:ahLst/>
            <a:cxnLst/>
            <a:rect r="r" b="b" t="t" l="l"/>
            <a:pathLst>
              <a:path h="3554577" w="5981496">
                <a:moveTo>
                  <a:pt x="0" y="0"/>
                </a:moveTo>
                <a:lnTo>
                  <a:pt x="5981495" y="0"/>
                </a:lnTo>
                <a:lnTo>
                  <a:pt x="5981495" y="3554577"/>
                </a:lnTo>
                <a:lnTo>
                  <a:pt x="0" y="35545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51079" y="1900418"/>
            <a:ext cx="12385841" cy="100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5"/>
              </a:lnSpc>
              <a:spcBef>
                <a:spcPct val="0"/>
              </a:spcBef>
            </a:pPr>
            <a:r>
              <a:rPr lang="en-US" sz="6699" spc="736">
                <a:solidFill>
                  <a:srgbClr val="FEFEFE"/>
                </a:solidFill>
                <a:latin typeface="Roca One Light"/>
                <a:ea typeface="Roca One Light"/>
                <a:cs typeface="Roca One Light"/>
                <a:sym typeface="Roca One Light"/>
              </a:rPr>
              <a:t>Thank you for your time!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77805" y="3096914"/>
            <a:ext cx="2932390" cy="41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sz="2800" spc="308">
                <a:solidFill>
                  <a:srgbClr val="FEFEFE"/>
                </a:solidFill>
                <a:latin typeface="Roca One"/>
                <a:ea typeface="Roca One"/>
                <a:cs typeface="Roca One"/>
                <a:sym typeface="Roca One"/>
              </a:rPr>
              <a:t>Any Questions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01851" y="9492855"/>
            <a:ext cx="16286149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  <a:spcBef>
                <a:spcPct val="0"/>
              </a:spcBef>
            </a:pPr>
            <a:r>
              <a:rPr lang="en-US" b="true" sz="2900" spc="43">
                <a:solidFill>
                  <a:srgbClr val="0D1C38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https://www.kaggle.com/datasets/yasserh/instacart-online-grocery-basket-analysis-dataset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DAG7D1LXYT8</dc:identifier>
  <dcterms:modified xsi:type="dcterms:W3CDTF">2011-08-01T06:04:30Z</dcterms:modified>
  <cp:revision>1</cp:revision>
  <dc:title>Data Management - G6</dc:title>
</cp:coreProperties>
</file>